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joroge, J.W. (Joan, Student M-SE)" userId="2fa0f0d3-ced8-426e-bc26-f9c8e3d0002e" providerId="ADAL" clId="{587DDE62-9B41-46ED-BDFF-227DB7724741}"/>
    <pc:docChg chg="modSld">
      <pc:chgData name="Njoroge, J.W. (Joan, Student M-SE)" userId="2fa0f0d3-ced8-426e-bc26-f9c8e3d0002e" providerId="ADAL" clId="{587DDE62-9B41-46ED-BDFF-227DB7724741}" dt="2026-07-17T06:21:48.252" v="36" actId="729"/>
      <pc:docMkLst>
        <pc:docMk/>
      </pc:docMkLst>
      <pc:sldChg chg="modSp mod">
        <pc:chgData name="Njoroge, J.W. (Joan, Student M-SE)" userId="2fa0f0d3-ced8-426e-bc26-f9c8e3d0002e" providerId="ADAL" clId="{587DDE62-9B41-46ED-BDFF-227DB7724741}" dt="2026-07-17T06:20:15.469" v="33" actId="20577"/>
        <pc:sldMkLst>
          <pc:docMk/>
          <pc:sldMk cId="0" sldId="256"/>
        </pc:sldMkLst>
        <pc:spChg chg="mod">
          <ac:chgData name="Njoroge, J.W. (Joan, Student M-SE)" userId="2fa0f0d3-ced8-426e-bc26-f9c8e3d0002e" providerId="ADAL" clId="{587DDE62-9B41-46ED-BDFF-227DB7724741}" dt="2026-07-17T06:20:15.469" v="33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Njoroge, J.W. (Joan, Student M-SE)" userId="2fa0f0d3-ced8-426e-bc26-f9c8e3d0002e" providerId="ADAL" clId="{587DDE62-9B41-46ED-BDFF-227DB7724741}" dt="2026-07-17T06:19:45.624" v="3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Njoroge, J.W. (Joan, Student M-SE)" userId="2fa0f0d3-ced8-426e-bc26-f9c8e3d0002e" providerId="ADAL" clId="{587DDE62-9B41-46ED-BDFF-227DB7724741}" dt="2026-07-17T06:20:41.870" v="35" actId="20577"/>
        <pc:sldMkLst>
          <pc:docMk/>
          <pc:sldMk cId="0" sldId="257"/>
        </pc:sldMkLst>
        <pc:spChg chg="mod">
          <ac:chgData name="Njoroge, J.W. (Joan, Student M-SE)" userId="2fa0f0d3-ced8-426e-bc26-f9c8e3d0002e" providerId="ADAL" clId="{587DDE62-9B41-46ED-BDFF-227DB7724741}" dt="2026-07-17T06:20:41.870" v="35" actId="20577"/>
          <ac:spMkLst>
            <pc:docMk/>
            <pc:sldMk cId="0" sldId="257"/>
            <ac:spMk id="5" creationId="{00000000-0000-0000-0000-000000000000}"/>
          </ac:spMkLst>
        </pc:spChg>
      </pc:sldChg>
      <pc:sldChg chg="mod modShow">
        <pc:chgData name="Njoroge, J.W. (Joan, Student M-SE)" userId="2fa0f0d3-ced8-426e-bc26-f9c8e3d0002e" providerId="ADAL" clId="{587DDE62-9B41-46ED-BDFF-227DB7724741}" dt="2026-07-17T06:21:48.252" v="36" actId="729"/>
        <pc:sldMkLst>
          <pc:docMk/>
          <pc:sldMk cId="0" sldId="26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 / m³ over the year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Electricity bought (kWh)</c:v>
                </c:pt>
                <c:pt idx="1">
                  <c:v>Electricity sold (kWh)</c:v>
                </c:pt>
                <c:pt idx="2">
                  <c:v>Gas used (m³ ×10)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14094</c:v>
                </c:pt>
                <c:pt idx="1">
                  <c:v>5720</c:v>
                </c:pt>
                <c:pt idx="2">
                  <c:v>6971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71-4A72-B00F-00417A0BD4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179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Bram House digital twin built within 3DxVERSE WP7. Presenter: Joan.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716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240280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Household Level DT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66928" y="3246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Building-Level Digital Twin for Sustainable Living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66928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IFC model to an interactive, geolocated, energy-aware web twin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Twinlink.eu   ·   3DxVERSE D7.2 — Interoperable Digital Twin Testbed   ·   University of Twente / ITC   ·   Aadorp, NL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twin exists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179624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3DxVERSE testbed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98424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D7.2 calls for an interoperable digital twin testbed. Bram House is the building-level node of the Aadorp–Almelo Local Digital Twin.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3063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316784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017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household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80160" y="335584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family home in Aadorp (Overijssel) with a full BIM model, a year of smart-meter data, solar panels, a battery and an EV — an ideal sustainable-living pilot.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44348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" y="4539447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389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control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280160" y="472744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 supports exploration and stakeholder dialogue about energy and indoor climate — it visualises evidence rather than automating the home.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863840" y="1691640"/>
            <a:ext cx="3794760" cy="420624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Text 14"/>
          <p:cNvSpPr/>
          <p:nvPr/>
        </p:nvSpPr>
        <p:spPr>
          <a:xfrm>
            <a:off x="8001000" y="1965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20" name="Text 15"/>
          <p:cNvSpPr/>
          <p:nvPr/>
        </p:nvSpPr>
        <p:spPr>
          <a:xfrm>
            <a:off x="800100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household, fully modelled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001000" y="3246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8001000" y="4023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extracted from the IFC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001000" y="4526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366</a:t>
            </a:r>
            <a:endParaRPr lang="en-US" sz="4400" dirty="0"/>
          </a:p>
        </p:txBody>
      </p:sp>
      <p:sp>
        <p:nvSpPr>
          <p:cNvPr id="24" name="Text 19"/>
          <p:cNvSpPr/>
          <p:nvPr/>
        </p:nvSpPr>
        <p:spPr>
          <a:xfrm>
            <a:off x="8001000" y="5303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real meter data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twin is built from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traces back to a real source — nothing is hand-drawn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202484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model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226771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2023 → IFC 2x3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 MB, full interior with furniture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IfcSpaces with names &amp; numbers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6446520" y="1920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127" y="202484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meters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32320" y="226771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CSV exports, 15-min interval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~35,000 rows each, Jun 2025 – Jun 2026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solar export · battery · gas · water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931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731520" y="4206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27" y="4310847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open geodata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17320" y="455371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PDOK aerial photo (~8 cm)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BAG buildings (LoD 2.2)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parcel &amp; Cesium World Terrain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17920" y="3931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Shape 17"/>
          <p:cNvSpPr/>
          <p:nvPr/>
        </p:nvSpPr>
        <p:spPr>
          <a:xfrm>
            <a:off x="6446520" y="4206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127" y="4310847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drawings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132320" y="4553712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DXF/DWG floor plans (Level 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verify room geometry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QGIS during export QA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the house on the 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IFC already knew where it stood — the twin just had to listen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099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IfcSite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48256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IFC's IfcSite entity stores WGS84 coordinates in degrees-minutes-seconds: 52°22′48.9″ N, 6°37′37.2″ 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6692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1272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against BAG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465576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building register (pand 0141100000019888, Kerkweg 18, Aadorp) centres ~11 m away — the offset is the Revit project base point, exactly as expected.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457200" cy="45720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56692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5445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everything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882896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anchor (52.380257 N, 6.626997 E) places the 3D Tiles shell, all room polygons, appliances and camera views. Heading, height and x/y offsets stay configurable.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1737360"/>
            <a:ext cx="3703320" cy="411480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1838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52.380257° N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18388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6.626997° E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183880" y="3657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Kerkweg 18, Aadorp · Overijssel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WGS84 (EPSG:4326)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metres → degrees: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÷ 111 320 · lon ÷ 111 320·cos(φ)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heavy BIM to lightweight web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tracks feed one browser application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GEOMETRY SHELL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(474 MB)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80360" y="196596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196596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 ion tiler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96596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97880" y="196596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5897880" y="1965960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OGC 3D Tiles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0" y="190195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level-of-detail model — the browser never loads raw IFC.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ROOM DATA SPINE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47288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02920" y="3447288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IfcSpaces (first 53 KB!)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80360" y="344728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0" y="3447288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3200400" y="3447288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IfcOpenShell + Shapely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77840" y="344728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97880" y="3447288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5897880" y="3447288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(21 rooms)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3383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Footprints, floors, heights &amp; GUIDs. All 21 rooms sat in the first 53 KB of a 474 MB file — sliced &amp; parsed in seconds.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4608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ENERGY &amp; IAQ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92861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02920" y="4928616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CSVs / sensor mocks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80360" y="492861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00400" y="492861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3200400" y="4928616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daily deltas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77840" y="492861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97880" y="492861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5897880" y="4928616"/>
            <a:ext cx="23774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overlays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86800" y="486460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meters handled as last-minus-first; strictly separated from geometry, joined by room_id.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rule: static spatial geometry never mixes with dynamic data — sensors and meters join later via room_id.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under the hood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simple stack — no backend required for the MVP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7099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 scene, basemaps, terrain, IFC shell, section-cut clipping, x-ray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441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4597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navigator &amp; state, fly/walk/patrol cameras, appliances, IAQ modes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191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panels/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20954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 &amp; branding, dashboard, energy charts, gamification HUD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941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9593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Machine replay, what-if energy scenarios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690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47091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CSV service (cumulative-meter math), sensor readings service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5623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vanilla ES modules · CesiumJS (CDN) · Chart.js · no framework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1691640"/>
            <a:ext cx="3794760" cy="420624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0010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~5,700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01000" y="2697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JavaScript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01000" y="3200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001000" y="39776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in 5 layers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01000" y="44805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001000" y="5257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needed to run it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place, not a floating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sits in its actual street, light and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202484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shell as 3D Tiles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417320" y="2267712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Full-detail interior streamed from Cesium ion; manually anchored because the ion tiler ignores IFC2x3 georeferencing.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6446520" y="1920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127" y="202484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context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132320" y="2267712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PDOK ~8 cm aerial photo under the house; 3D BAG neighbour buildings clipped to a 600 m box around Aadorp; the house's own BAG block filtered out by pand-ID.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931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3"/>
          <p:cNvSpPr/>
          <p:nvPr/>
        </p:nvSpPr>
        <p:spPr>
          <a:xfrm>
            <a:off x="731520" y="4206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27" y="4310847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&amp; shadows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417320" y="4553712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solar position from date + time sliders — shows how light hits the PV roof in June vs December.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17920" y="3931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2" name="Shape 17"/>
          <p:cNvSpPr/>
          <p:nvPr/>
        </p:nvSpPr>
        <p:spPr>
          <a:xfrm>
            <a:off x="6446520" y="420624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127" y="4310847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cuts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32320" y="4553712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clipping planes isolate one storey — the dollhouse view used by every room visit.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house room by room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IFC is what you see — GeoJSON is an invisible data spine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7922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64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explorer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14800" y="166420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lists all 21 spaces with live IAQ chips; search, floors, appliances tab.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770632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8712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inside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114800" y="27432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room cuts the building open at that storey and flies to an eye-level interior view with an adaptive field of view per room size.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849624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5020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822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&amp; patrol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114800" y="3822192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 for first-person walking (arrow keys, height control, room-entry toasts); Patrol runs a 40-second agent-style scan of a room.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4928616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02920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4901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IFC-first rule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114800" y="4901184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polygons stay invisible but clickable — geometry duplicates were removed after they poked through the sloped roof.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66928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Woonkamer · Keuken · Eetkamer · Kantoor · Tuinkamer · Bijkeuken · Wasruimte · Hal · WC ×2 · Kast — and 10 more upstairs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year of real energy, made visible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 – June 2026 · computed from cumulative meter readings (last − first)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9164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69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shown ×10 for scale (real value 697 m³)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06640" y="1691640"/>
            <a:ext cx="42519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Text 6"/>
          <p:cNvSpPr/>
          <p:nvPr/>
        </p:nvSpPr>
        <p:spPr>
          <a:xfrm>
            <a:off x="763524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193852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demand offset by exporting solar surplus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3524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tabs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281160" y="331012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electricity · solar &amp; battery · gas &amp; water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281160" y="468172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resolution, aggregated to daily &amp; monthly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DATA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Indoor air quality &amp; appliances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Room-level and device-level views, ready for real sensors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5321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197912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01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air quality (simulated)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temperature, humidity and CO₂ with good / watch / ventilate status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heat-map painted on room footprints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Air-patrol tour visits rooms with elevated CO₂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live feed via OGC SensorThings API, joined on room_id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9"/>
          <p:cNvSpPr/>
          <p:nvPr/>
        </p:nvSpPr>
        <p:spPr>
          <a:xfrm>
            <a:off x="6492240" y="1874520"/>
            <a:ext cx="475488" cy="475488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847" y="197912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monitoring (mock)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75120" y="237744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devices placed in their real rooms — fridge, hob, washer, boiler, EV charger…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marker → camera flies to it, room cut open, meter panel opens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daily profiles: EV charges at night, dishwasher at 21:00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names its appliance id — one function swap connects a smart plug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household manager, not a CAD viewer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layers turn meter data into a story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7922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Machine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23360" y="1664208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or replay the whole year: rooms glow with each day's gas heating, green on solar-surplus days, chimney smoke on heavy-heating days, sun follows the date.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770632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8712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Eco-score &amp; badges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023360" y="2743200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score from real data (self-sufficiency 45%, net-seller days 35%, gas-free days 20%) with levels and achievements like Solar Baron and Flame Tamer.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849624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5020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023360" y="3822192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extra panels, battery size and a heat pump replay the real 366 days under a new configuration — new bill, savings, payback years and CO₂ avoided.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4928616"/>
            <a:ext cx="457200" cy="457200"/>
          </a:xfrm>
          <a:prstGeom prst="ellipse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NL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02920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4901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house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023360" y="4901184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window lights follow a household routine — kitchen first, bedrooms last, lights out near midnight.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open standards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is the point of the 3DxVERSE testbed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099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(ISO 16739)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23360" y="170992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geometry &amp; room identity (GUIDs preserved end-to-end)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5511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OGC 3D Tiles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23360" y="255117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format for the building shell and 3D BAG context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9242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374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+ WGS84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023360" y="3392424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footprints and every coordinate in the app (EPSG:4326)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23367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215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PDOK / 3D BAG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023360" y="423367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national open data (CC-BY) for imagery and neighbours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07492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5056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OGC SensorThings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023360" y="5074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standard for the live indoor-sensor feed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66928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by design: any EU community with a BIM model and meter exports can rebuild this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Building-Level Digital Twin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build actually taught us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engineering notebook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Georeferencing is never free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664208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ion tiler ignored IfcSite in IFC2x3 — the model landed at (0,0). Manual east-north-up anchoring with configurable heading/height solved 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5420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5420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files hide small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2560320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rooms lived in the first 53 KB of the 474 MB IFC. Slicing before parsing turned minutes into seconds.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4381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43814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planes have their own world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80560" y="3456432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Cesium anchors clip planes in the tileset's frame, not the world — one bad matrix made the whole model vanish. Distance calibration beats matrix surgery.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334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33425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are cumulative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80560" y="4352544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readings double-counts massively; totals must be last-minus-first with reset guards.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52303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2303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fights developers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5248656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appended NUL bytes to five source files mid-edit, silently breaking room navigation. Version control and non-synced dev folders are not optional.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325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66928" y="2468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6928" y="28529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CO₂ / temperature / humidity via OGC SensorThings, joined on room_id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27648" y="2468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Room-level energy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27648" y="28529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sub-metering mapped through the prepared room_energy_mapping.json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tests for the meter math, CI, scoped ion tokens, git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27648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27648" y="42245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at twinlink.eu as the Aadorp node of the Local Digital Twin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House · Twinlink.eu · 3DxVERSE D7.2 · University of Twente / ITC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CC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1754</Words>
  <Application>Microsoft Office PowerPoint</Application>
  <PresentationFormat>Widescreen</PresentationFormat>
  <Paragraphs>228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Njoroge, J.W. (Joan, Student M-SE)</cp:lastModifiedBy>
  <cp:revision>1</cp:revision>
  <dcterms:created xsi:type="dcterms:W3CDTF">2026-07-16T10:27:39Z</dcterms:created>
  <dcterms:modified xsi:type="dcterms:W3CDTF">2026-07-17T06:21:57Z</dcterms:modified>
</cp:coreProperties>
</file>